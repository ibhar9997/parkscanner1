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4"/>
  </p:notesMasterIdLst>
  <p:sldIdLst>
    <p:sldId id="270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</p:sldIdLst>
  <p:sldSz cx="24384000" cy="13716000"/>
  <p:notesSz cx="6858000" cy="9144000"/>
  <p:custDataLst>
    <p:tags r:id="rId2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9pPr>
  </p:defaultTextStyle>
  <p:extLst>
    <p:ext uri="{EFAFB233-063F-42B5-8137-9DF3F51BA10A}">
      <p15:sldGuideLst xmlns:p15="http://schemas.microsoft.com/office/powerpoint/2012/main">
        <p15:guide id="1" pos="672" userDrawn="1">
          <p15:clr>
            <a:srgbClr val="A4A3A4"/>
          </p15:clr>
        </p15:guide>
        <p15:guide id="2" pos="14665" userDrawn="1">
          <p15:clr>
            <a:srgbClr val="A4A3A4"/>
          </p15:clr>
        </p15:guide>
        <p15:guide id="3" orient="horz" pos="1712" userDrawn="1">
          <p15:clr>
            <a:srgbClr val="A4A3A4"/>
          </p15:clr>
        </p15:guide>
        <p15:guide id="4" orient="horz" pos="3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2427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4649"/>
  </p:normalViewPr>
  <p:slideViewPr>
    <p:cSldViewPr snapToGrid="0" snapToObjects="1">
      <p:cViewPr varScale="1">
        <p:scale>
          <a:sx n="30" d="100"/>
          <a:sy n="30" d="100"/>
        </p:scale>
        <p:origin x="844" y="24"/>
      </p:cViewPr>
      <p:guideLst>
        <p:guide pos="672"/>
        <p:guide pos="14665"/>
        <p:guide orient="horz" pos="1712"/>
        <p:guide orient="horz" pos="3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Shape 1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Open Sans"/>
      </a:defRPr>
    </a:lvl1pPr>
    <a:lvl2pPr indent="228600" defTabSz="1828800" latinLnBrk="0">
      <a:defRPr sz="2400">
        <a:latin typeface="+mn-lt"/>
        <a:ea typeface="+mn-ea"/>
        <a:cs typeface="+mn-cs"/>
        <a:sym typeface="Open Sans"/>
      </a:defRPr>
    </a:lvl2pPr>
    <a:lvl3pPr indent="457200" defTabSz="1828800" latinLnBrk="0">
      <a:defRPr sz="2400">
        <a:latin typeface="+mn-lt"/>
        <a:ea typeface="+mn-ea"/>
        <a:cs typeface="+mn-cs"/>
        <a:sym typeface="Open Sans"/>
      </a:defRPr>
    </a:lvl3pPr>
    <a:lvl4pPr indent="685800" defTabSz="1828800" latinLnBrk="0">
      <a:defRPr sz="2400">
        <a:latin typeface="+mn-lt"/>
        <a:ea typeface="+mn-ea"/>
        <a:cs typeface="+mn-cs"/>
        <a:sym typeface="Open Sans"/>
      </a:defRPr>
    </a:lvl4pPr>
    <a:lvl5pPr indent="914400" defTabSz="1828800" latinLnBrk="0">
      <a:defRPr sz="2400">
        <a:latin typeface="+mn-lt"/>
        <a:ea typeface="+mn-ea"/>
        <a:cs typeface="+mn-cs"/>
        <a:sym typeface="Open Sans"/>
      </a:defRPr>
    </a:lvl5pPr>
    <a:lvl6pPr indent="1143000" defTabSz="1828800" latinLnBrk="0">
      <a:defRPr sz="2400">
        <a:latin typeface="+mn-lt"/>
        <a:ea typeface="+mn-ea"/>
        <a:cs typeface="+mn-cs"/>
        <a:sym typeface="Open Sans"/>
      </a:defRPr>
    </a:lvl6pPr>
    <a:lvl7pPr indent="1371600" defTabSz="1828800" latinLnBrk="0">
      <a:defRPr sz="2400">
        <a:latin typeface="+mn-lt"/>
        <a:ea typeface="+mn-ea"/>
        <a:cs typeface="+mn-cs"/>
        <a:sym typeface="Open Sans"/>
      </a:defRPr>
    </a:lvl7pPr>
    <a:lvl8pPr indent="1600200" defTabSz="1828800" latinLnBrk="0">
      <a:defRPr sz="2400">
        <a:latin typeface="+mn-lt"/>
        <a:ea typeface="+mn-ea"/>
        <a:cs typeface="+mn-cs"/>
        <a:sym typeface="Open Sans"/>
      </a:defRPr>
    </a:lvl8pPr>
    <a:lvl9pPr indent="1828800" defTabSz="1828800" latinLnBrk="0">
      <a:defRPr sz="2400">
        <a:latin typeface="+mn-lt"/>
        <a:ea typeface="+mn-ea"/>
        <a:cs typeface="+mn-cs"/>
        <a:sym typeface="Open San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3"/>
          <a:srcRect b="88597"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UBTÍTULO DE LA PRESENTACIÓN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3302000" y="7553481"/>
            <a:ext cx="17780000" cy="67710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rPr lang="es-ES" dirty="0"/>
              <a:t>UNIDAD 1: NOMBRE UNIDAD TEMÁTICA O MÓDULO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3"/>
          <a:srcRect t="97742"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302000" y="5687359"/>
            <a:ext cx="17780000" cy="1794782"/>
          </a:xfrm>
        </p:spPr>
        <p:txBody>
          <a:bodyPr anchor="b">
            <a:normAutofit/>
          </a:bodyPr>
          <a:lstStyle>
            <a:lvl1pPr algn="ctr">
              <a:defRPr sz="9000" baseline="0"/>
            </a:lvl1pPr>
          </a:lstStyle>
          <a:p>
            <a:r>
              <a:rPr lang="es-ES" dirty="0"/>
              <a:t>TÍTULO DEL CURSO</a:t>
            </a:r>
            <a:endParaRPr lang="es-CL" dirty="0"/>
          </a:p>
        </p:txBody>
      </p:sp>
      <p:sp>
        <p:nvSpPr>
          <p:cNvPr id="13" name="SUBTÍTULO DE LA PRESENTACIÓN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3302000" y="12474584"/>
            <a:ext cx="17780000" cy="67710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rPr lang="es-CL" dirty="0"/>
              <a:t>Vicerrectoría de Educación Continua</a:t>
            </a:r>
            <a:endParaRPr dirty="0"/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6D7D7E94-4575-485D-8BE5-3F60FAB3CA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08" y="1802611"/>
            <a:ext cx="6111784" cy="24192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9" name="Imagen 4" descr="Imagen 4"/>
            <p:cNvPicPr>
              <a:picLocks noChangeAspect="1"/>
            </p:cNvPicPr>
            <p:nvPr/>
          </p:nvPicPr>
          <p:blipFill>
            <a:blip r:embed="rId3"/>
            <a:srcRect t="93457"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0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76" name="Título de la diapositiva…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052759" y="1673730"/>
            <a:ext cx="20822106" cy="800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SzTx/>
              <a:buFontTx/>
              <a:buNone/>
              <a:defRPr sz="4000" spc="-200"/>
            </a:pPr>
            <a:r>
              <a:rPr dirty="0" err="1"/>
              <a:t>Subtítulo</a:t>
            </a:r>
            <a:r>
              <a:rPr dirty="0"/>
              <a:t> de la </a:t>
            </a:r>
            <a:r>
              <a:rPr dirty="0" err="1"/>
              <a:t>diapositiva</a:t>
            </a:r>
            <a:endParaRPr dirty="0"/>
          </a:p>
        </p:txBody>
      </p:sp>
      <p:grpSp>
        <p:nvGrpSpPr>
          <p:cNvPr id="79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77" name="Imagen 4" descr="Imagen 4"/>
            <p:cNvPicPr>
              <a:picLocks noChangeAspect="1"/>
            </p:cNvPicPr>
            <p:nvPr/>
          </p:nvPicPr>
          <p:blipFill>
            <a:blip r:embed="rId3"/>
            <a:srcRect b="96263"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8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>
          <a:xfrm>
            <a:off x="1052759" y="2743199"/>
            <a:ext cx="22195168" cy="863735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52760" y="547934"/>
            <a:ext cx="20822106" cy="1075594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de la Diapositiva </a:t>
            </a:r>
            <a:endParaRPr lang="es-CL" dirty="0"/>
          </a:p>
        </p:txBody>
      </p:sp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98126B0E-373D-4B4A-BC5C-498E764BAC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761" y="12011386"/>
            <a:ext cx="3763428" cy="14896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320455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n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48" name="Imagen 4" descr="Imagen 4"/>
            <p:cNvPicPr>
              <a:picLocks noChangeAspect="1"/>
            </p:cNvPicPr>
            <p:nvPr/>
          </p:nvPicPr>
          <p:blipFill>
            <a:blip r:embed="rId3"/>
            <a:srcRect t="93457"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55" name="Línea"/>
          <p:cNvSpPr/>
          <p:nvPr/>
        </p:nvSpPr>
        <p:spPr>
          <a:xfrm>
            <a:off x="26940" y="9144000"/>
            <a:ext cx="12600000" cy="0"/>
          </a:xfrm>
          <a:prstGeom prst="line">
            <a:avLst/>
          </a:prstGeom>
          <a:ln w="12700">
            <a:solidFill>
              <a:srgbClr val="D6D6D6"/>
            </a:solidFill>
            <a:miter lim="400000"/>
          </a:ln>
        </p:spPr>
        <p:txBody>
          <a:bodyPr tIns="91439" bIns="91439"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7" name="SUBTÍTULO PORTADILLA"/>
          <p:cNvSpPr txBox="1">
            <a:spLocks noGrp="1"/>
          </p:cNvSpPr>
          <p:nvPr>
            <p:ph type="body" sz="quarter" idx="14"/>
          </p:nvPr>
        </p:nvSpPr>
        <p:spPr>
          <a:xfrm>
            <a:off x="1294727" y="9275142"/>
            <a:ext cx="21945600" cy="6771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SzTx/>
              <a:buFontTx/>
              <a:buNone/>
              <a:defRPr sz="3200" spc="-160"/>
            </a:lvl1pPr>
          </a:lstStyle>
          <a:p>
            <a:r>
              <a:t>SUBTÍTULO PORTADILLA</a:t>
            </a:r>
          </a:p>
        </p:txBody>
      </p:sp>
      <p:grpSp>
        <p:nvGrpSpPr>
          <p:cNvPr id="60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58" name="Imagen 4" descr="Imagen 4"/>
            <p:cNvPicPr>
              <a:picLocks noChangeAspect="1"/>
            </p:cNvPicPr>
            <p:nvPr/>
          </p:nvPicPr>
          <p:blipFill>
            <a:blip r:embed="rId3"/>
            <a:srcRect b="96263"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61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1294727" y="7836502"/>
            <a:ext cx="21945600" cy="1075594"/>
          </a:xfrm>
        </p:spPr>
        <p:txBody>
          <a:bodyPr/>
          <a:lstStyle>
            <a:lvl1pPr>
              <a:defRPr lang="es-ES" sz="6000" b="0" i="0" u="none" strike="noStrike" cap="none" spc="-300" baseline="0" dirty="0" smtClean="0">
                <a:ln>
                  <a:noFill/>
                </a:ln>
                <a:solidFill>
                  <a:srgbClr val="535353"/>
                </a:solidFill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  <a:sym typeface="Open Sans Light"/>
              </a:defRPr>
            </a:lvl1pPr>
          </a:lstStyle>
          <a:p>
            <a:r>
              <a:rPr lang="es-ES" dirty="0"/>
              <a:t>TÍTULO PORTADILLA</a:t>
            </a:r>
            <a:endParaRPr lang="es-CL" dirty="0"/>
          </a:p>
        </p:txBody>
      </p:sp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544D78D9-94F5-4FC8-A825-3680E392E8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761" y="12011386"/>
            <a:ext cx="3763428" cy="14896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963849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ido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88" name="Imagen 4" descr="Imagen 4"/>
            <p:cNvPicPr>
              <a:picLocks noChangeAspect="1"/>
            </p:cNvPicPr>
            <p:nvPr/>
          </p:nvPicPr>
          <p:blipFill>
            <a:blip r:embed="rId3"/>
            <a:srcRect t="93457"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grpSp>
        <p:nvGrpSpPr>
          <p:cNvPr id="96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94" name="Imagen 4" descr="Imagen 4"/>
            <p:cNvPicPr>
              <a:picLocks noChangeAspect="1"/>
            </p:cNvPicPr>
            <p:nvPr/>
          </p:nvPicPr>
          <p:blipFill>
            <a:blip r:embed="rId3"/>
            <a:srcRect b="96263"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5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97" name="Rectángulo"/>
          <p:cNvSpPr/>
          <p:nvPr/>
        </p:nvSpPr>
        <p:spPr>
          <a:xfrm>
            <a:off x="-88900" y="-63500"/>
            <a:ext cx="9029700" cy="13500100"/>
          </a:xfrm>
          <a:prstGeom prst="rect">
            <a:avLst/>
          </a:prstGeom>
          <a:solidFill>
            <a:schemeClr val="accent3">
              <a:lumOff val="-12941"/>
            </a:schemeClr>
          </a:solidFill>
          <a:ln w="12700">
            <a:miter lim="400000"/>
          </a:ln>
        </p:spPr>
        <p:txBody>
          <a:bodyPr lIns="63500" tIns="63500" rIns="63500" bIns="63500" anchor="ctr"/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spc="0">
                <a:solidFill>
                  <a:srgbClr val="FFFFFF"/>
                </a:solidFill>
                <a:latin typeface="+mn-lt"/>
                <a:ea typeface="+mn-ea"/>
                <a:cs typeface="+mn-cs"/>
                <a:sym typeface="Open Sans"/>
              </a:defRPr>
            </a:pPr>
            <a:endParaRPr kumimoji="0" sz="4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Imagen"/>
          <p:cNvSpPr>
            <a:spLocks noGrp="1"/>
          </p:cNvSpPr>
          <p:nvPr>
            <p:ph type="pic" sz="half" idx="13"/>
          </p:nvPr>
        </p:nvSpPr>
        <p:spPr>
          <a:xfrm>
            <a:off x="-82770" y="-59212"/>
            <a:ext cx="9029743" cy="13503154"/>
          </a:xfrm>
          <a:prstGeom prst="rect">
            <a:avLst/>
          </a:prstGeom>
          <a:ln w="12700"/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102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Rectángulo 16"/>
          <p:cNvSpPr/>
          <p:nvPr userDrawn="1"/>
        </p:nvSpPr>
        <p:spPr>
          <a:xfrm>
            <a:off x="9852927" y="1339515"/>
            <a:ext cx="1440000" cy="10800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500" tIns="63500" rIns="63500" bIns="63500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4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Rectángulo 24"/>
          <p:cNvSpPr/>
          <p:nvPr userDrawn="1"/>
        </p:nvSpPr>
        <p:spPr>
          <a:xfrm>
            <a:off x="9852927" y="6839592"/>
            <a:ext cx="1440000" cy="10800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500" tIns="63500" rIns="63500" bIns="63500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4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6"/>
          </p:nvPr>
        </p:nvSpPr>
        <p:spPr>
          <a:xfrm>
            <a:off x="9690100" y="1740437"/>
            <a:ext cx="14039850" cy="3884076"/>
          </a:xfrm>
          <a:prstGeom prst="rect">
            <a:avLst/>
          </a:prstGeom>
        </p:spPr>
        <p:txBody>
          <a:bodyPr/>
          <a:lstStyle>
            <a:lvl1pPr marL="636588" indent="-636588">
              <a:buSzPct val="120000"/>
              <a:buFontTx/>
              <a:buBlip>
                <a:blip r:embed="rId4"/>
              </a:buBlip>
              <a:defRPr/>
            </a:lvl1pPr>
            <a:lvl2pPr marL="1524000" indent="-788988">
              <a:buFontTx/>
              <a:buBlip>
                <a:blip r:embed="rId5"/>
              </a:buBlip>
              <a:defRPr/>
            </a:lvl2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  <p:sp>
        <p:nvSpPr>
          <p:cNvPr id="32" name="Marcador de texto 8"/>
          <p:cNvSpPr>
            <a:spLocks noGrp="1"/>
          </p:cNvSpPr>
          <p:nvPr>
            <p:ph type="body" sz="quarter" idx="17"/>
          </p:nvPr>
        </p:nvSpPr>
        <p:spPr>
          <a:xfrm>
            <a:off x="9639388" y="7397825"/>
            <a:ext cx="14039850" cy="3884076"/>
          </a:xfrm>
          <a:prstGeom prst="rect">
            <a:avLst/>
          </a:prstGeom>
        </p:spPr>
        <p:txBody>
          <a:bodyPr/>
          <a:lstStyle>
            <a:lvl1pPr marL="636588" indent="-636588">
              <a:buSzPct val="120000"/>
              <a:buFontTx/>
              <a:buBlip>
                <a:blip r:embed="rId4"/>
              </a:buBlip>
              <a:defRPr/>
            </a:lvl1pPr>
            <a:lvl2pPr marL="1524000" indent="-788988">
              <a:buFontTx/>
              <a:buBlip>
                <a:blip r:embed="rId5"/>
              </a:buBlip>
              <a:defRPr/>
            </a:lvl2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689744" y="434290"/>
            <a:ext cx="12610419" cy="1075594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20" name="Título 1"/>
          <p:cNvSpPr txBox="1">
            <a:spLocks/>
          </p:cNvSpPr>
          <p:nvPr userDrawn="1"/>
        </p:nvSpPr>
        <p:spPr>
          <a:xfrm>
            <a:off x="9639388" y="5962719"/>
            <a:ext cx="12610419" cy="107559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 lnSpcReduction="10000"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hangingPunct="1"/>
            <a:r>
              <a:rPr lang="es-ES"/>
              <a:t>Título</a:t>
            </a:r>
            <a:endParaRPr lang="es-CL" dirty="0"/>
          </a:p>
        </p:txBody>
      </p:sp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11254D0B-5376-477C-8385-9CB7DAFFB3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761" y="12011386"/>
            <a:ext cx="3763428" cy="14896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705570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ido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88" name="Imagen 4" descr="Imagen 4"/>
            <p:cNvPicPr>
              <a:picLocks noChangeAspect="1"/>
            </p:cNvPicPr>
            <p:nvPr/>
          </p:nvPicPr>
          <p:blipFill>
            <a:blip r:embed="rId3"/>
            <a:srcRect t="93457"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grpSp>
        <p:nvGrpSpPr>
          <p:cNvPr id="96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94" name="Imagen 4" descr="Imagen 4"/>
            <p:cNvPicPr>
              <a:picLocks noChangeAspect="1"/>
            </p:cNvPicPr>
            <p:nvPr/>
          </p:nvPicPr>
          <p:blipFill>
            <a:blip r:embed="rId3"/>
            <a:srcRect b="96263"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5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97" name="Rectángulo"/>
          <p:cNvSpPr/>
          <p:nvPr/>
        </p:nvSpPr>
        <p:spPr>
          <a:xfrm>
            <a:off x="-88900" y="-63500"/>
            <a:ext cx="9029700" cy="13500100"/>
          </a:xfrm>
          <a:prstGeom prst="rect">
            <a:avLst/>
          </a:prstGeom>
          <a:solidFill>
            <a:schemeClr val="accent3">
              <a:lumOff val="-12941"/>
            </a:schemeClr>
          </a:solidFill>
          <a:ln w="12700">
            <a:miter lim="400000"/>
          </a:ln>
        </p:spPr>
        <p:txBody>
          <a:bodyPr lIns="63500" tIns="63500" rIns="63500" bIns="63500" anchor="ctr"/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spc="0">
                <a:solidFill>
                  <a:srgbClr val="FFFFFF"/>
                </a:solidFill>
                <a:latin typeface="+mn-lt"/>
                <a:ea typeface="+mn-ea"/>
                <a:cs typeface="+mn-cs"/>
                <a:sym typeface="Open Sans"/>
              </a:defRPr>
            </a:pPr>
            <a:endParaRPr kumimoji="0" sz="4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Imagen"/>
          <p:cNvSpPr>
            <a:spLocks noGrp="1"/>
          </p:cNvSpPr>
          <p:nvPr>
            <p:ph type="pic" sz="half" idx="13"/>
          </p:nvPr>
        </p:nvSpPr>
        <p:spPr>
          <a:xfrm>
            <a:off x="-82770" y="-59212"/>
            <a:ext cx="9029743" cy="13503154"/>
          </a:xfrm>
          <a:prstGeom prst="rect">
            <a:avLst/>
          </a:prstGeom>
          <a:ln w="12700"/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102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000" b="0" i="0" u="none" strike="noStrike" kern="0" cap="none" spc="-15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sz="3000" b="0" i="0" u="none" strike="noStrike" kern="0" cap="none" spc="-15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Rectángulo 16"/>
          <p:cNvSpPr/>
          <p:nvPr userDrawn="1"/>
        </p:nvSpPr>
        <p:spPr>
          <a:xfrm>
            <a:off x="9852927" y="1339515"/>
            <a:ext cx="1440000" cy="10800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500" tIns="63500" rIns="63500" bIns="63500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4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6"/>
          </p:nvPr>
        </p:nvSpPr>
        <p:spPr>
          <a:xfrm>
            <a:off x="9690100" y="1740436"/>
            <a:ext cx="14039850" cy="10143211"/>
          </a:xfrm>
          <a:prstGeom prst="rect">
            <a:avLst/>
          </a:prstGeom>
        </p:spPr>
        <p:txBody>
          <a:bodyPr/>
          <a:lstStyle>
            <a:lvl1pPr marL="636588" indent="-636588">
              <a:buSzPct val="120000"/>
              <a:buFontTx/>
              <a:buBlip>
                <a:blip r:embed="rId4"/>
              </a:buBlip>
              <a:defRPr/>
            </a:lvl1pPr>
            <a:lvl2pPr marL="1524000" indent="-788988">
              <a:buFontTx/>
              <a:buBlip>
                <a:blip r:embed="rId5"/>
              </a:buBlip>
              <a:defRPr/>
            </a:lvl2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690100" y="210316"/>
            <a:ext cx="12316912" cy="1075594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pic>
        <p:nvPicPr>
          <p:cNvPr id="16" name="Imagen 15" descr="Logotipo&#10;&#10;Descripción generada automáticamente">
            <a:extLst>
              <a:ext uri="{FF2B5EF4-FFF2-40B4-BE49-F238E27FC236}">
                <a16:creationId xmlns:a16="http://schemas.microsoft.com/office/drawing/2014/main" id="{057CE047-41B0-4A23-BC44-12D89F58551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761" y="12011386"/>
            <a:ext cx="3763428" cy="14896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8972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2" name="Imagen 4" descr="Imagen 4"/>
            <p:cNvPicPr>
              <a:picLocks noChangeAspect="1"/>
            </p:cNvPicPr>
            <p:nvPr/>
          </p:nvPicPr>
          <p:blipFill>
            <a:blip r:embed="rId9"/>
            <a:srcRect t="93457"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11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9" name="Imagen 4" descr="Imagen 4"/>
            <p:cNvPicPr>
              <a:picLocks noChangeAspect="1"/>
            </p:cNvPicPr>
            <p:nvPr/>
          </p:nvPicPr>
          <p:blipFill>
            <a:blip r:embed="rId9"/>
            <a:srcRect b="96263"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3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547934"/>
            <a:ext cx="21945600" cy="107559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del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1940767"/>
            <a:ext cx="21945600" cy="9829239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1</a:t>
            </a:r>
          </a:p>
          <a:p>
            <a:pPr lvl="1"/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2</a:t>
            </a:r>
          </a:p>
          <a:p>
            <a:pPr lvl="2"/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3</a:t>
            </a:r>
          </a:p>
          <a:p>
            <a:pPr lvl="3"/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4</a:t>
            </a:r>
          </a:p>
          <a:p>
            <a:pPr lvl="4"/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61412" y="12297153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 dirty="0"/>
          </a:p>
        </p:txBody>
      </p:sp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FD6AB933-A236-4FD3-8789-B54E3564418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761" y="12011386"/>
            <a:ext cx="3763428" cy="1489690"/>
          </a:xfrm>
          <a:prstGeom prst="rect">
            <a:avLst/>
          </a:prstGeom>
        </p:spPr>
      </p:pic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5" r:id="rId3"/>
    <p:sldLayoutId id="2147483659" r:id="rId4"/>
    <p:sldLayoutId id="2147483661" r:id="rId5"/>
    <p:sldLayoutId id="2147483662" r:id="rId6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300" baseline="0">
          <a:ln>
            <a:noFill/>
          </a:ln>
          <a:solidFill>
            <a:srgbClr val="535353"/>
          </a:solidFill>
          <a:uFillTx/>
          <a:latin typeface="+mj-l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636588" marR="0" indent="-636588" algn="l" defTabSz="1828800" rtl="0" latinLnBrk="0">
        <a:lnSpc>
          <a:spcPct val="100000"/>
        </a:lnSpc>
        <a:spcBef>
          <a:spcPts val="0"/>
        </a:spcBef>
        <a:spcAft>
          <a:spcPts val="1200"/>
        </a:spcAft>
        <a:buClrTx/>
        <a:buSzPct val="140000"/>
        <a:buFontTx/>
        <a:buBlip>
          <a:blip r:embed="rId11"/>
        </a:buBlip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1081088" marR="0" indent="-479425" algn="l" defTabSz="1828800" rtl="0" latinLnBrk="0">
        <a:lnSpc>
          <a:spcPct val="100000"/>
        </a:lnSpc>
        <a:spcBef>
          <a:spcPts val="0"/>
        </a:spcBef>
        <a:spcAft>
          <a:spcPts val="1200"/>
        </a:spcAft>
        <a:buClrTx/>
        <a:buSzPct val="110000"/>
        <a:buFontTx/>
        <a:buBlip>
          <a:blip r:embed="rId12"/>
        </a:buBlip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4"/>
          </p:nvPr>
        </p:nvSpPr>
        <p:spPr>
          <a:xfrm>
            <a:off x="3302000" y="7557846"/>
            <a:ext cx="17780000" cy="738662"/>
          </a:xfrm>
        </p:spPr>
        <p:txBody>
          <a:bodyPr/>
          <a:lstStyle/>
          <a:p>
            <a:r>
              <a:rPr lang="es-MX" sz="3600" b="1" dirty="0"/>
              <a:t>Ingeniería de software </a:t>
            </a:r>
            <a:endParaRPr lang="es-CL" sz="3600" b="1" dirty="0"/>
          </a:p>
        </p:txBody>
      </p:sp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1496619" y="5645811"/>
            <a:ext cx="21390757" cy="1794782"/>
          </a:xfrm>
        </p:spPr>
        <p:txBody>
          <a:bodyPr>
            <a:normAutofit fontScale="90000"/>
          </a:bodyPr>
          <a:lstStyle/>
          <a:p>
            <a:r>
              <a:rPr lang="es-ES" dirty="0"/>
              <a:t>Teoría general de sistemas en la ingeniería de software</a:t>
            </a:r>
            <a:endParaRPr lang="es-CL" dirty="0"/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A94A1CF9-8161-E076-07D5-335635E406AE}"/>
              </a:ext>
            </a:extLst>
          </p:cNvPr>
          <p:cNvSpPr txBox="1">
            <a:spLocks/>
          </p:cNvSpPr>
          <p:nvPr/>
        </p:nvSpPr>
        <p:spPr>
          <a:xfrm>
            <a:off x="3301998" y="12232223"/>
            <a:ext cx="17780000" cy="7386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marL="0" marR="0" indent="0" algn="ctr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3200" b="0" i="0" u="none" strike="noStrike" cap="none" spc="-16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algn="r" hangingPunct="1"/>
            <a:r>
              <a:rPr lang="es-MX" sz="3600" b="1" dirty="0"/>
              <a:t>Docente: Sebastián Hernandez</a:t>
            </a:r>
            <a:endParaRPr lang="es-CL" sz="36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643767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31F6D9D-ED56-942D-7C57-0E722E0DC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83" y="1260832"/>
            <a:ext cx="18339834" cy="102218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507254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r>
              <a:rPr lang="es-ES" dirty="0">
                <a:highlight>
                  <a:srgbClr val="FFFFFF"/>
                </a:highlight>
              </a:rPr>
              <a:t>Conceptos sobre teoría general de los sistemas </a:t>
            </a:r>
            <a:endParaRPr lang="es-CL" dirty="0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FA52499-81A0-67B3-771F-E864CEB40234}"/>
              </a:ext>
            </a:extLst>
          </p:cNvPr>
          <p:cNvSpPr txBox="1">
            <a:spLocks/>
          </p:cNvSpPr>
          <p:nvPr/>
        </p:nvSpPr>
        <p:spPr>
          <a:xfrm>
            <a:off x="1052760" y="3145567"/>
            <a:ext cx="21946388" cy="6827772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fontAlgn="base">
              <a:buFont typeface="Wingdings" panose="05000000000000000000" pitchFamily="2" charset="2"/>
              <a:buChar char="ü"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La teoría general de sistemas fue propuesta por 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Ludwig </a:t>
            </a:r>
            <a:r>
              <a:rPr lang="es-ES" sz="4000" dirty="0" err="1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von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 Bertalanffy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 en la década de 1940 como 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una forma de entender los sistemas complejos en diversas disciplinas</a:t>
            </a:r>
            <a:r>
              <a:rPr lang="es-ES" sz="4000" b="1" dirty="0">
                <a:highlight>
                  <a:srgbClr val="FFFFFF"/>
                </a:highlight>
                <a:latin typeface="+mn-lt"/>
              </a:rPr>
              <a:t>.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 Se basa en la idea de que los sistemas pueden ser estudiados y comprendidos a través de sus componentes y las interacciones entre ellos.</a:t>
            </a:r>
          </a:p>
        </p:txBody>
      </p:sp>
      <p:pic>
        <p:nvPicPr>
          <p:cNvPr id="1026" name="Picture 2" descr="Teoría: Qué es, Características y Ejemplos - Enciclopedia Significados">
            <a:extLst>
              <a:ext uri="{FF2B5EF4-FFF2-40B4-BE49-F238E27FC236}">
                <a16:creationId xmlns:a16="http://schemas.microsoft.com/office/drawing/2014/main" id="{7402485B-CA7C-3566-71F5-7666FE8BA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993" y="6559453"/>
            <a:ext cx="7308222" cy="547411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888544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4E994-EB0F-B3EF-5821-416D195C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091D476-C460-FA8B-B48F-EFE08656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r>
              <a:rPr lang="es-CL" dirty="0">
                <a:highlight>
                  <a:srgbClr val="FFFFFF"/>
                </a:highlight>
              </a:rPr>
              <a:t>¿ Que son las Variables del problema ?</a:t>
            </a:r>
            <a:endParaRPr lang="es-CL" dirty="0"/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BDF5AA60-6A86-759B-0E08-C84C8BB46465}"/>
              </a:ext>
            </a:extLst>
          </p:cNvPr>
          <p:cNvSpPr txBox="1">
            <a:spLocks/>
          </p:cNvSpPr>
          <p:nvPr/>
        </p:nvSpPr>
        <p:spPr>
          <a:xfrm>
            <a:off x="1052760" y="3158853"/>
            <a:ext cx="21946388" cy="2620434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fontAlgn="base">
              <a:buFont typeface="Wingdings" panose="05000000000000000000" pitchFamily="2" charset="2"/>
              <a:buChar char="ü"/>
            </a:pPr>
            <a:r>
              <a:rPr lang="es-ES" sz="4000" b="1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Son elementos que afectan el comportamiento de un sistema y deben ser considerados en su análisis y diseño</a:t>
            </a:r>
            <a:r>
              <a:rPr lang="es-ES" sz="4000" b="1" dirty="0">
                <a:highlight>
                  <a:srgbClr val="FFFFFF"/>
                </a:highlight>
                <a:latin typeface="+mn-lt"/>
              </a:rPr>
              <a:t>.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 En el contexto de la ingeniería de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, estas variables pueden incluir:</a:t>
            </a:r>
            <a:br>
              <a:rPr lang="es-ES" sz="4000" dirty="0">
                <a:latin typeface="+mn-lt"/>
              </a:rPr>
            </a:br>
            <a:endParaRPr lang="es-ES" sz="4000" dirty="0">
              <a:highlight>
                <a:srgbClr val="FFFFFF"/>
              </a:highlight>
              <a:latin typeface="+mn-lt"/>
            </a:endParaRPr>
          </a:p>
          <a:p>
            <a:pPr marL="0" indent="0">
              <a:buNone/>
            </a:pPr>
            <a:br>
              <a:rPr lang="es-ES" dirty="0">
                <a:highlight>
                  <a:srgbClr val="FFFFFF"/>
                </a:highlight>
              </a:rPr>
            </a:br>
            <a:r>
              <a:rPr lang="es-ES" sz="4000" dirty="0">
                <a:highlight>
                  <a:srgbClr val="FFFFFF"/>
                </a:highlight>
                <a:latin typeface="+mn-lt"/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148E65-2678-0F72-5ADF-B5485DB0A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8810" y="5514888"/>
            <a:ext cx="2892167" cy="26862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3FAD652-1E66-D90C-D3F0-0641333F5CC7}"/>
              </a:ext>
            </a:extLst>
          </p:cNvPr>
          <p:cNvSpPr txBox="1"/>
          <p:nvPr/>
        </p:nvSpPr>
        <p:spPr>
          <a:xfrm>
            <a:off x="5663610" y="5382169"/>
            <a:ext cx="4798827" cy="255454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Son necesidades y expectativas de los usuarios finales del </a:t>
            </a:r>
            <a:r>
              <a:rPr lang="es-ES" sz="4000" b="0" i="1" dirty="0">
                <a:solidFill>
                  <a:srgbClr val="000000"/>
                </a:solidFill>
                <a:effectLst/>
                <a:latin typeface="+mn-lt"/>
              </a:rPr>
              <a:t>software</a:t>
            </a:r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.</a:t>
            </a:r>
            <a:endParaRPr lang="es-CL" sz="4000" dirty="0">
              <a:latin typeface="+mn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B9DCC0-794B-D2EC-14BF-44AEC97D7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1565" y="5315036"/>
            <a:ext cx="3181350" cy="2886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06BC77-9F4C-2EA0-82EF-66B1F2A9CA78}"/>
              </a:ext>
            </a:extLst>
          </p:cNvPr>
          <p:cNvSpPr txBox="1"/>
          <p:nvPr/>
        </p:nvSpPr>
        <p:spPr>
          <a:xfrm>
            <a:off x="17655101" y="5216403"/>
            <a:ext cx="6116680" cy="31700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Son limitaciones impuestas por la tecnología utilizada, como el </a:t>
            </a:r>
            <a:r>
              <a:rPr lang="es-ES" sz="4000" b="0" i="1" dirty="0">
                <a:solidFill>
                  <a:srgbClr val="000000"/>
                </a:solidFill>
                <a:effectLst/>
                <a:latin typeface="+mn-lt"/>
              </a:rPr>
              <a:t>hardware</a:t>
            </a:r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 y el </a:t>
            </a:r>
            <a:r>
              <a:rPr lang="es-ES" sz="4000" b="0" i="1" dirty="0">
                <a:solidFill>
                  <a:srgbClr val="000000"/>
                </a:solidFill>
                <a:effectLst/>
                <a:latin typeface="+mn-lt"/>
              </a:rPr>
              <a:t>software</a:t>
            </a:r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 disponibles.</a:t>
            </a:r>
            <a:endParaRPr lang="es-CL" sz="4000" dirty="0">
              <a:latin typeface="+mn-lt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A7F35E8-752C-0D36-39C4-9C0AD8C1C7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8810" y="9670970"/>
            <a:ext cx="2892167" cy="268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BF70A3B-A726-8799-C0C8-7C29ED698C05}"/>
              </a:ext>
            </a:extLst>
          </p:cNvPr>
          <p:cNvSpPr txBox="1"/>
          <p:nvPr/>
        </p:nvSpPr>
        <p:spPr>
          <a:xfrm>
            <a:off x="5663610" y="10262379"/>
            <a:ext cx="16896060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Son las condiciones externas que pueden influir en el desarrollo y operación del </a:t>
            </a:r>
            <a:r>
              <a:rPr lang="es-ES" sz="4000" b="0" i="1" dirty="0">
                <a:solidFill>
                  <a:srgbClr val="000000"/>
                </a:solidFill>
                <a:effectLst/>
                <a:latin typeface="+mn-lt"/>
              </a:rPr>
              <a:t>software</a:t>
            </a:r>
            <a:r>
              <a:rPr lang="es-ES" sz="4000" b="0" i="0" dirty="0">
                <a:solidFill>
                  <a:srgbClr val="000000"/>
                </a:solidFill>
                <a:effectLst/>
                <a:latin typeface="+mn-lt"/>
              </a:rPr>
              <a:t>, como regulaciones legales y estándares de la industria.</a:t>
            </a:r>
            <a:endParaRPr lang="es-CL" sz="40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94162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53B6-6A5B-0DF7-5DC6-CFA44160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2BF8C29-E266-2FD9-5ABB-C5009283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r>
              <a:rPr lang="es-CL" dirty="0">
                <a:highlight>
                  <a:srgbClr val="FFFFFF"/>
                </a:highlight>
              </a:rPr>
              <a:t>¿ Que son las actividades en el tiempo ?</a:t>
            </a:r>
            <a:endParaRPr lang="es-CL" dirty="0"/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929548F0-5CED-EC3E-08D8-D5B8842E82B8}"/>
              </a:ext>
            </a:extLst>
          </p:cNvPr>
          <p:cNvSpPr txBox="1">
            <a:spLocks/>
          </p:cNvSpPr>
          <p:nvPr/>
        </p:nvSpPr>
        <p:spPr>
          <a:xfrm>
            <a:off x="1052760" y="2861141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Las actividades en el tiempo se refieren a la secuencia de acciones realizadas durante el ciclo de vida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para transformar entradas en salidas. Estas actividades incluyen:</a:t>
            </a:r>
            <a:br>
              <a:rPr lang="es-ES" sz="4000" dirty="0">
                <a:latin typeface="+mn-lt"/>
              </a:rPr>
            </a:br>
            <a:endParaRPr lang="es-ES" sz="4000" dirty="0">
              <a:highlight>
                <a:srgbClr val="FFFFFF"/>
              </a:highlight>
              <a:latin typeface="+mn-lt"/>
            </a:endParaRPr>
          </a:p>
          <a:p>
            <a:pPr marL="0" indent="0">
              <a:buNone/>
            </a:pPr>
            <a:br>
              <a:rPr lang="es-ES" dirty="0">
                <a:highlight>
                  <a:srgbClr val="FFFFFF"/>
                </a:highlight>
              </a:rPr>
            </a:br>
            <a:r>
              <a:rPr lang="es-ES" sz="4000" dirty="0">
                <a:highlight>
                  <a:srgbClr val="FFFFFF"/>
                </a:highlight>
                <a:latin typeface="+mn-lt"/>
              </a:rPr>
              <a:t> 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543BC9A7-52CC-50BB-4704-A941B17DF165}"/>
              </a:ext>
            </a:extLst>
          </p:cNvPr>
          <p:cNvSpPr txBox="1">
            <a:spLocks/>
          </p:cNvSpPr>
          <p:nvPr/>
        </p:nvSpPr>
        <p:spPr>
          <a:xfrm>
            <a:off x="1052760" y="4592708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Análisis de requerimientos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2B9A4CDB-6BA4-0858-91E3-5DBA1A9099FF}"/>
              </a:ext>
            </a:extLst>
          </p:cNvPr>
          <p:cNvSpPr txBox="1">
            <a:spLocks/>
          </p:cNvSpPr>
          <p:nvPr/>
        </p:nvSpPr>
        <p:spPr>
          <a:xfrm>
            <a:off x="1052760" y="6128880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La identificación y documentación de las necesidades del usuario y las condiciones del entorno.</a:t>
            </a:r>
            <a:br>
              <a:rPr lang="es-ES" sz="4000" dirty="0">
                <a:latin typeface="+mn-lt"/>
              </a:rPr>
            </a:br>
            <a:endParaRPr lang="es-ES" sz="4000" dirty="0">
              <a:highlight>
                <a:srgbClr val="FFFFFF"/>
              </a:highlight>
              <a:latin typeface="+mn-lt"/>
            </a:endParaRPr>
          </a:p>
          <a:p>
            <a:pPr marL="0" indent="0">
              <a:buNone/>
            </a:pPr>
            <a:br>
              <a:rPr lang="es-ES" dirty="0">
                <a:highlight>
                  <a:srgbClr val="FFFFFF"/>
                </a:highlight>
              </a:rPr>
            </a:br>
            <a:r>
              <a:rPr lang="es-ES" sz="4000" dirty="0">
                <a:highlight>
                  <a:srgbClr val="FFFFFF"/>
                </a:highlight>
                <a:latin typeface="+mn-lt"/>
              </a:rPr>
              <a:t>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F410B17-79F2-4BE0-4A42-76DCABE58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76" y="7306273"/>
            <a:ext cx="5848350" cy="5133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80688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FCE7-4A0B-DA94-DD84-E975DB57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A4E3A299-7F6C-F111-1BF0-A3BE85A5477F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Diseño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12D07B19-ACD1-1A37-2D15-F8E80AC9EC64}"/>
              </a:ext>
            </a:extLst>
          </p:cNvPr>
          <p:cNvSpPr txBox="1">
            <a:spLocks/>
          </p:cNvSpPr>
          <p:nvPr/>
        </p:nvSpPr>
        <p:spPr>
          <a:xfrm>
            <a:off x="1218806" y="270178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La creación de la arquitectura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y definición de sus componentes e interfaces.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120966E-D42D-6966-FEE1-477789EE5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331" y="4594940"/>
            <a:ext cx="6985454" cy="5896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8640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4A9E-5006-16FC-7D6C-7B37476A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C481D365-1D1F-A70B-0692-6010F753D542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Implementación 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BDD4F81E-EC98-6428-64C9-1999E01AAF3C}"/>
              </a:ext>
            </a:extLst>
          </p:cNvPr>
          <p:cNvSpPr txBox="1">
            <a:spLocks/>
          </p:cNvSpPr>
          <p:nvPr/>
        </p:nvSpPr>
        <p:spPr>
          <a:xfrm>
            <a:off x="1218806" y="270178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Es el desarrollo del código fuente y construcción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9E1793-A9ED-1977-DC07-8D9887518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828" y="3817059"/>
            <a:ext cx="7126251" cy="69286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10306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0A282-C14A-B78A-F2B0-BFD67AC7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1E520027-E7E0-6120-B3DF-6F903BB0E890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Pruebas 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5C9806CE-D966-D5FC-3C92-0CAFC99BC2F6}"/>
              </a:ext>
            </a:extLst>
          </p:cNvPr>
          <p:cNvSpPr txBox="1">
            <a:spLocks/>
          </p:cNvSpPr>
          <p:nvPr/>
        </p:nvSpPr>
        <p:spPr>
          <a:xfrm>
            <a:off x="1218806" y="270178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Es la verificación y validación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 para asegurar que cumple con los requisitos especificados.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E46FC4-C4FD-2830-0CB6-23A0699D0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472" y="4768923"/>
            <a:ext cx="7168742" cy="68418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99350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9CCE-07AF-0AD2-4476-EEDF9628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CEBB0EA2-5AF3-600C-859A-E725EFCCAB82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Despliegues 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DAD817D4-7F85-0274-1C00-1972ACC04B0F}"/>
              </a:ext>
            </a:extLst>
          </p:cNvPr>
          <p:cNvSpPr txBox="1">
            <a:spLocks/>
          </p:cNvSpPr>
          <p:nvPr/>
        </p:nvSpPr>
        <p:spPr>
          <a:xfrm>
            <a:off x="1218806" y="270178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Es la instalación y configuración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en el entorno de producción.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2BD8FE-6EF3-C515-A857-15F766906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748" y="4679236"/>
            <a:ext cx="6785122" cy="633497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403604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8382-9188-B8F6-617E-87390159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8F838A23-66E4-2F84-6846-36C64068FF14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Mantenimiento 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CB2B7933-66AF-8E8B-A92C-20A4D8D68F49}"/>
              </a:ext>
            </a:extLst>
          </p:cNvPr>
          <p:cNvSpPr txBox="1">
            <a:spLocks/>
          </p:cNvSpPr>
          <p:nvPr/>
        </p:nvSpPr>
        <p:spPr>
          <a:xfrm>
            <a:off x="1052760" y="2795777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Es la actualización y mejora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después de su despliegue para corregir errores y adaptarse a nuevos requisitos.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DE9C75-C579-CC04-368F-5D5C11126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551" y="5284491"/>
            <a:ext cx="8104779" cy="52956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62401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1A88-ECF4-9F95-CA27-CB347CA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82810AC-12ED-A9C9-959E-53AA0648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r>
              <a:rPr lang="es-CL" dirty="0">
                <a:highlight>
                  <a:srgbClr val="FFFFFF"/>
                </a:highlight>
              </a:rPr>
              <a:t>Comportamiento del sistema</a:t>
            </a:r>
            <a:endParaRPr lang="es-CL" dirty="0"/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731C6DBC-F820-C9C1-8039-64D440CE023D}"/>
              </a:ext>
            </a:extLst>
          </p:cNvPr>
          <p:cNvSpPr txBox="1">
            <a:spLocks/>
          </p:cNvSpPr>
          <p:nvPr/>
        </p:nvSpPr>
        <p:spPr>
          <a:xfrm>
            <a:off x="1052760" y="265403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Describe cómo un sistema actúa o se comporta en respuesta a 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estímulos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 internos o externos. En la ingeniería de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, esto implica optimizar los siguientes procesos:</a:t>
            </a:r>
            <a:br>
              <a:rPr lang="es-ES" dirty="0">
                <a:highlight>
                  <a:srgbClr val="FFFFFF"/>
                </a:highlight>
              </a:rPr>
            </a:br>
            <a:r>
              <a:rPr lang="es-ES" sz="4000" dirty="0">
                <a:highlight>
                  <a:srgbClr val="FFFFFF"/>
                </a:highlight>
                <a:latin typeface="+mn-lt"/>
              </a:rPr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384141-D7F2-2DAD-3DCA-E5BCFE530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901" y="4231593"/>
            <a:ext cx="19544105" cy="81217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429524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926FB-8CBC-476D-1A18-686BF763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2B47C25-4DEC-9E81-723E-06A72D63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r>
              <a:rPr lang="es-CL" dirty="0">
                <a:highlight>
                  <a:srgbClr val="FFFFFF"/>
                </a:highlight>
              </a:rPr>
              <a:t>Estructura del sistema</a:t>
            </a:r>
            <a:endParaRPr lang="es-CL" dirty="0"/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424C4426-6D02-4AEE-86B1-E6736F234FC7}"/>
              </a:ext>
            </a:extLst>
          </p:cNvPr>
          <p:cNvSpPr txBox="1">
            <a:spLocks/>
          </p:cNvSpPr>
          <p:nvPr/>
        </p:nvSpPr>
        <p:spPr>
          <a:xfrm>
            <a:off x="1052760" y="265403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b="1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Se refiere a la organización y disposición de los componentes de un sistema y las relaciones entre ellos.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En el desarrollo de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, incluye optimizar los siguientes procesos: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D221F1-2933-659E-48FC-9B9228340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779" y="4603096"/>
            <a:ext cx="18454441" cy="73267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82294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E5535-A956-2DC4-31F4-5F79AEB1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7848F5-6874-7EA0-39FA-34B8F57E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r>
              <a:rPr lang="es-CL" dirty="0">
                <a:highlight>
                  <a:srgbClr val="FFFFFF"/>
                </a:highlight>
              </a:rPr>
              <a:t>Etapas del Proceso de la ingeniería de software </a:t>
            </a:r>
            <a:endParaRPr lang="es-CL" dirty="0"/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8853C971-24F7-D7DD-C812-B8570DE9A3F9}"/>
              </a:ext>
            </a:extLst>
          </p:cNvPr>
          <p:cNvSpPr txBox="1">
            <a:spLocks/>
          </p:cNvSpPr>
          <p:nvPr/>
        </p:nvSpPr>
        <p:spPr>
          <a:xfrm>
            <a:off x="1052760" y="2654038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A continuación, se presentan las etapas clave del proceso de ingeniería de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, esenciales para garantizar el desarrollo de soluciones tecnológicas eficaces y de calidad.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ACA652-D6FA-82C2-AF85-DF11B7D07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623" y="4679300"/>
            <a:ext cx="2617694" cy="3730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B744EC0-B245-4B3B-C941-85AB2B63D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6532" y="4679299"/>
            <a:ext cx="2617693" cy="3730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0563A71-BFBE-CDD7-E3CE-9BB9D978F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44248" y="4679300"/>
            <a:ext cx="2617693" cy="3730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B98FBA0-57D9-9FDF-0335-2E6A2BF72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1323" y="8618163"/>
            <a:ext cx="2537994" cy="3716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6927C7F-A5FA-5F6F-E644-79B27A9AD3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686" y="8618163"/>
            <a:ext cx="2625539" cy="3716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9ABB54B-722D-4C6D-34CE-821FC19B3A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44248" y="8618162"/>
            <a:ext cx="2625539" cy="3716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810823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FEB780-F839-BDE1-F98F-488F9AB8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998D9B4D-C2D7-5E28-F6C1-31942B800BCF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Análisis de requisitos  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381F490C-9204-A902-427D-219C98477C50}"/>
              </a:ext>
            </a:extLst>
          </p:cNvPr>
          <p:cNvSpPr txBox="1">
            <a:spLocks/>
          </p:cNvSpPr>
          <p:nvPr/>
        </p:nvSpPr>
        <p:spPr>
          <a:xfrm>
            <a:off x="1052760" y="2795777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Es la primera etapa del ciclo de vida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, donde se determinan las necesidades y condiciones para cumplir con los objetivos del proyecto. Esta etapa es crucial para asegurar que 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 desarrollado satisfaga las expectativas del usuario.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90D3B87B-3C43-FAE2-1F66-7EDDC3E57445}"/>
              </a:ext>
            </a:extLst>
          </p:cNvPr>
          <p:cNvSpPr txBox="1">
            <a:spLocks/>
          </p:cNvSpPr>
          <p:nvPr/>
        </p:nvSpPr>
        <p:spPr>
          <a:xfrm>
            <a:off x="1052760" y="5049388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Diseño de Software</a:t>
            </a:r>
            <a:endParaRPr lang="es-CL" sz="4000" dirty="0">
              <a:latin typeface="+mn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1625AEE-7988-94FD-B783-4E9DAEE6FA86}"/>
              </a:ext>
            </a:extLst>
          </p:cNvPr>
          <p:cNvSpPr txBox="1">
            <a:spLocks/>
          </p:cNvSpPr>
          <p:nvPr/>
        </p:nvSpPr>
        <p:spPr>
          <a:xfrm>
            <a:off x="1052760" y="8840152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Implementación   </a:t>
            </a:r>
            <a:endParaRPr lang="es-CL" sz="4000" dirty="0">
              <a:latin typeface="+mn-lt"/>
            </a:endParaRPr>
          </a:p>
        </p:txBody>
      </p:sp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BF0164F5-D864-165B-9855-EE96F5959DA8}"/>
              </a:ext>
            </a:extLst>
          </p:cNvPr>
          <p:cNvSpPr txBox="1">
            <a:spLocks/>
          </p:cNvSpPr>
          <p:nvPr/>
        </p:nvSpPr>
        <p:spPr>
          <a:xfrm>
            <a:off x="1052760" y="6394489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En la etapa de diseño, se define la arquitectura, componentes, interfaces y otros aspectos del sistema de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 software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. El diseño debe ser detallado y específico para guiar la implementación del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 software.</a:t>
            </a:r>
            <a:endParaRPr lang="es-ES" sz="4000" dirty="0">
              <a:highlight>
                <a:srgbClr val="FFFFFF"/>
              </a:highlight>
              <a:latin typeface="+mn-lt"/>
            </a:endParaRPr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055BAD1C-D593-61F8-DC84-69FF5947FDE9}"/>
              </a:ext>
            </a:extLst>
          </p:cNvPr>
          <p:cNvSpPr txBox="1">
            <a:spLocks/>
          </p:cNvSpPr>
          <p:nvPr/>
        </p:nvSpPr>
        <p:spPr>
          <a:xfrm>
            <a:off x="1052760" y="10377305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Es la fase en la que se escribe el código fuente según las especificaciones y el diseño establecidos. Esta etapa incluye la programación, integración y verificación del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software.</a:t>
            </a:r>
            <a:endParaRPr lang="es-ES" sz="4000" dirty="0">
              <a:highlight>
                <a:srgbClr val="FFFFFF"/>
              </a:highlight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08755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90E7BC-54F8-1339-F8A1-C4D050D0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55E9AD4D-4EAA-D69A-18F9-D0302DE14654}"/>
              </a:ext>
            </a:extLst>
          </p:cNvPr>
          <p:cNvSpPr txBox="1">
            <a:spLocks/>
          </p:cNvSpPr>
          <p:nvPr/>
        </p:nvSpPr>
        <p:spPr>
          <a:xfrm>
            <a:off x="1052760" y="913843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Prueba de Software</a:t>
            </a:r>
            <a:endParaRPr lang="es-CL" sz="4000" dirty="0">
              <a:latin typeface="+mn-lt"/>
            </a:endParaRPr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60823B1A-2FCD-E789-56C9-FF0B80FB38DD}"/>
              </a:ext>
            </a:extLst>
          </p:cNvPr>
          <p:cNvSpPr txBox="1">
            <a:spLocks/>
          </p:cNvSpPr>
          <p:nvPr/>
        </p:nvSpPr>
        <p:spPr>
          <a:xfrm>
            <a:off x="1052760" y="2795777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Son esenciales para asegurar que el </a:t>
            </a:r>
            <a:r>
              <a:rPr lang="es-ES" sz="4000" i="1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software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 cumpla con los requisitos especificados y funciona correctamente.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Incluyen pruebas unitarias, de integración, de sistema y de aceptación.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56BE93DD-EED1-5D83-A76B-75F7BE6DCF3F}"/>
              </a:ext>
            </a:extLst>
          </p:cNvPr>
          <p:cNvSpPr txBox="1">
            <a:spLocks/>
          </p:cNvSpPr>
          <p:nvPr/>
        </p:nvSpPr>
        <p:spPr>
          <a:xfrm>
            <a:off x="1052760" y="5049388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Despliegue</a:t>
            </a:r>
            <a:endParaRPr lang="es-CL" sz="4000" dirty="0">
              <a:latin typeface="+mn-lt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56DB996-7C5F-BC28-CF59-06AE8643FDA8}"/>
              </a:ext>
            </a:extLst>
          </p:cNvPr>
          <p:cNvSpPr txBox="1">
            <a:spLocks/>
          </p:cNvSpPr>
          <p:nvPr/>
        </p:nvSpPr>
        <p:spPr>
          <a:xfrm>
            <a:off x="1052760" y="8840152"/>
            <a:ext cx="21946388" cy="181702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hangingPunct="1">
              <a:buFont typeface="Wingdings" panose="05000000000000000000" pitchFamily="2" charset="2"/>
              <a:buChar char="Ø"/>
            </a:pPr>
            <a:r>
              <a:rPr lang="es-CL" sz="4000" dirty="0">
                <a:highlight>
                  <a:srgbClr val="FFFFFF"/>
                </a:highlight>
                <a:latin typeface="+mn-lt"/>
              </a:rPr>
              <a:t>Mantenimiento de software</a:t>
            </a:r>
            <a:endParaRPr lang="es-CL" sz="4000" dirty="0">
              <a:latin typeface="+mn-lt"/>
            </a:endParaRPr>
          </a:p>
        </p:txBody>
      </p:sp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33CADD00-EF3B-9EB3-3133-6F6040F84899}"/>
              </a:ext>
            </a:extLst>
          </p:cNvPr>
          <p:cNvSpPr txBox="1">
            <a:spLocks/>
          </p:cNvSpPr>
          <p:nvPr/>
        </p:nvSpPr>
        <p:spPr>
          <a:xfrm>
            <a:off x="1052760" y="6394489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Implica instalar y configurar el </a:t>
            </a:r>
            <a:r>
              <a:rPr lang="es-ES" sz="4000" i="1" dirty="0">
                <a:highlight>
                  <a:srgbClr val="FFFFFF"/>
                </a:highlight>
                <a:latin typeface="+mn-lt"/>
              </a:rPr>
              <a:t>software 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en el entorno de producción para su uso por los usuarios finales. </a:t>
            </a: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Esta etapa también puede incluir la capacitación de los usuarios y la documentación del sistema.</a:t>
            </a:r>
          </a:p>
        </p:txBody>
      </p:sp>
      <p:sp>
        <p:nvSpPr>
          <p:cNvPr id="8" name="Marcador de contenido 1">
            <a:extLst>
              <a:ext uri="{FF2B5EF4-FFF2-40B4-BE49-F238E27FC236}">
                <a16:creationId xmlns:a16="http://schemas.microsoft.com/office/drawing/2014/main" id="{24889829-09E7-6186-1353-4AC4B3895E34}"/>
              </a:ext>
            </a:extLst>
          </p:cNvPr>
          <p:cNvSpPr txBox="1">
            <a:spLocks/>
          </p:cNvSpPr>
          <p:nvPr/>
        </p:nvSpPr>
        <p:spPr>
          <a:xfrm>
            <a:off x="1052760" y="10377305"/>
            <a:ext cx="21946388" cy="1817020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solidFill>
                  <a:srgbClr val="0070C0"/>
                </a:solidFill>
                <a:highlight>
                  <a:srgbClr val="FFFFFF"/>
                </a:highlight>
                <a:latin typeface="+mn-lt"/>
              </a:rPr>
              <a:t>Abarca las actividades realizadas después del despliegue para corregir errores</a:t>
            </a:r>
            <a:r>
              <a:rPr lang="es-ES" sz="4000" dirty="0">
                <a:highlight>
                  <a:srgbClr val="FFFFFF"/>
                </a:highlight>
                <a:latin typeface="+mn-lt"/>
              </a:rPr>
              <a:t>, mejorar el rendimiento y adaptarse a nuevos requisitos. El mantenimiento puede ser correctivo, adaptativo, perfectivo o preventivo.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766233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E501-AA27-088D-E0FF-ECF5C0396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5F40FB8-9864-D1F5-FEBC-CD3BED5E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202" y="3939625"/>
            <a:ext cx="21267595" cy="1817020"/>
          </a:xfrm>
        </p:spPr>
        <p:txBody>
          <a:bodyPr>
            <a:normAutofit fontScale="90000"/>
          </a:bodyPr>
          <a:lstStyle/>
          <a:p>
            <a:r>
              <a:rPr lang="es-ES" dirty="0">
                <a:highlight>
                  <a:srgbClr val="FFFFFF"/>
                </a:highlight>
              </a:rPr>
              <a:t>Aplicación de la teoría general de sistemas en proyectos de software</a:t>
            </a:r>
            <a:endParaRPr lang="es-CL" dirty="0"/>
          </a:p>
        </p:txBody>
      </p:sp>
      <p:pic>
        <p:nvPicPr>
          <p:cNvPr id="1026" name="Picture 2" descr="teoria del conocimiento gnoseologia epistemologia filosofia">
            <a:extLst>
              <a:ext uri="{FF2B5EF4-FFF2-40B4-BE49-F238E27FC236}">
                <a16:creationId xmlns:a16="http://schemas.microsoft.com/office/drawing/2014/main" id="{48E055DD-B120-52BA-B8C5-655983E5F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847" y="6309172"/>
            <a:ext cx="8812306" cy="440615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946735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BC8948-FECD-C0F9-ADB3-B958BD87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909ADB6-1968-B409-0559-71A1036F1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pPr fontAlgn="base"/>
            <a:r>
              <a:rPr lang="es-ES" dirty="0">
                <a:highlight>
                  <a:srgbClr val="FFFFFF"/>
                </a:highlight>
              </a:rPr>
              <a:t>Tipos y Alcances en Proyectos de </a:t>
            </a:r>
            <a:r>
              <a:rPr lang="es-ES" i="1" dirty="0">
                <a:highlight>
                  <a:srgbClr val="FFFFFF"/>
                </a:highlight>
              </a:rPr>
              <a:t>Software</a:t>
            </a:r>
            <a:endParaRPr lang="es-CL" dirty="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BD436A4-D445-21AC-81F9-667EC7AD22D9}"/>
              </a:ext>
            </a:extLst>
          </p:cNvPr>
          <p:cNvSpPr txBox="1">
            <a:spLocks/>
          </p:cNvSpPr>
          <p:nvPr/>
        </p:nvSpPr>
        <p:spPr>
          <a:xfrm>
            <a:off x="1052760" y="2793180"/>
            <a:ext cx="21946388" cy="118339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fontAlgn="base">
              <a:buFont typeface="Wingdings" panose="05000000000000000000" pitchFamily="2" charset="2"/>
              <a:buChar char="ü"/>
            </a:pPr>
            <a:r>
              <a:rPr lang="es-CL" sz="4400" dirty="0">
                <a:highlight>
                  <a:srgbClr val="FFFFFF"/>
                </a:highlight>
              </a:rPr>
              <a:t>Proyectos pequeños vs. grandes</a:t>
            </a:r>
            <a:endParaRPr lang="es-CL" dirty="0"/>
          </a:p>
        </p:txBody>
      </p:sp>
      <p:sp>
        <p:nvSpPr>
          <p:cNvPr id="3" name="Marcador de contenido 1">
            <a:extLst>
              <a:ext uri="{FF2B5EF4-FFF2-40B4-BE49-F238E27FC236}">
                <a16:creationId xmlns:a16="http://schemas.microsoft.com/office/drawing/2014/main" id="{84049E75-DACF-82E0-E701-14396A98F024}"/>
              </a:ext>
            </a:extLst>
          </p:cNvPr>
          <p:cNvSpPr txBox="1">
            <a:spLocks/>
          </p:cNvSpPr>
          <p:nvPr/>
        </p:nvSpPr>
        <p:spPr>
          <a:xfrm>
            <a:off x="1669448" y="3966530"/>
            <a:ext cx="21946388" cy="2392912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Los proyectos pequeños suelen ser más simples y rápidos de desarrollar, mientras que los grandes requieren una planificación y gestión más detallada. La teoría general de sistemas ayuda a gestionar la complejidad de los proyectos grandes mediante el modularidad y la abstracción.</a:t>
            </a:r>
          </a:p>
          <a:p>
            <a:pPr marL="0" indent="0">
              <a:buNone/>
            </a:pPr>
            <a:endParaRPr lang="es-ES" sz="4000" dirty="0">
              <a:highlight>
                <a:srgbClr val="FFFFFF"/>
              </a:highlight>
              <a:latin typeface="+mn-lt"/>
            </a:endParaRPr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154E0040-4E8D-B3D7-3834-E2F371C87390}"/>
              </a:ext>
            </a:extLst>
          </p:cNvPr>
          <p:cNvSpPr txBox="1">
            <a:spLocks/>
          </p:cNvSpPr>
          <p:nvPr/>
        </p:nvSpPr>
        <p:spPr>
          <a:xfrm>
            <a:off x="1052760" y="7027535"/>
            <a:ext cx="21946388" cy="118339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fontAlgn="base">
              <a:buFont typeface="Wingdings" panose="05000000000000000000" pitchFamily="2" charset="2"/>
              <a:buChar char="ü"/>
            </a:pPr>
            <a:r>
              <a:rPr lang="es-CL" sz="4400" dirty="0">
                <a:highlight>
                  <a:srgbClr val="FFFFFF"/>
                </a:highlight>
              </a:rPr>
              <a:t>Proyectos internos vs. externos</a:t>
            </a:r>
            <a:endParaRPr lang="es-CL" dirty="0"/>
          </a:p>
        </p:txBody>
      </p:sp>
      <p:sp>
        <p:nvSpPr>
          <p:cNvPr id="7" name="Marcador de contenido 1">
            <a:extLst>
              <a:ext uri="{FF2B5EF4-FFF2-40B4-BE49-F238E27FC236}">
                <a16:creationId xmlns:a16="http://schemas.microsoft.com/office/drawing/2014/main" id="{E93EEDD2-98D7-C6F1-2176-E45F0BF94FAD}"/>
              </a:ext>
            </a:extLst>
          </p:cNvPr>
          <p:cNvSpPr txBox="1">
            <a:spLocks/>
          </p:cNvSpPr>
          <p:nvPr/>
        </p:nvSpPr>
        <p:spPr>
          <a:xfrm>
            <a:off x="1669448" y="8213944"/>
            <a:ext cx="21946388" cy="2392912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Los proyectos internos son desarrollados para el uso dentro de la organización, mientras que los externos son para clientes o usuarios externos. La teoría general de sistemas proporciona un marco para entender y gestionar las expectativas y requisitos de diferentes tipos de proyectos.</a:t>
            </a:r>
          </a:p>
          <a:p>
            <a:pPr marL="0" indent="0">
              <a:buNone/>
            </a:pPr>
            <a:endParaRPr lang="es-ES" sz="4000" dirty="0">
              <a:highlight>
                <a:srgbClr val="FFFFFF"/>
              </a:highlight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50626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AD9A-8022-CEE4-2974-92D680B5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FB04E5C-91FB-3DF0-7D44-E7DE566B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pPr fontAlgn="base"/>
            <a:r>
              <a:rPr lang="es-ES" dirty="0">
                <a:highlight>
                  <a:srgbClr val="FFFFFF"/>
                </a:highlight>
              </a:rPr>
              <a:t>Ejemplo</a:t>
            </a:r>
            <a:endParaRPr lang="es-CL" dirty="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17E1B0A9-5563-3D5A-50E3-9A028979A143}"/>
              </a:ext>
            </a:extLst>
          </p:cNvPr>
          <p:cNvSpPr txBox="1">
            <a:spLocks/>
          </p:cNvSpPr>
          <p:nvPr/>
        </p:nvSpPr>
        <p:spPr>
          <a:xfrm>
            <a:off x="1052760" y="2793180"/>
            <a:ext cx="21946388" cy="118339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fontAlgn="base">
              <a:buFont typeface="Wingdings" panose="05000000000000000000" pitchFamily="2" charset="2"/>
              <a:buChar char="ü"/>
            </a:pPr>
            <a:r>
              <a:rPr lang="es-CL" sz="4400" dirty="0">
                <a:highlight>
                  <a:srgbClr val="FFFFFF"/>
                </a:highlight>
              </a:rPr>
              <a:t>Proyectos pequeños</a:t>
            </a:r>
            <a:endParaRPr lang="es-CL" dirty="0"/>
          </a:p>
        </p:txBody>
      </p:sp>
      <p:sp>
        <p:nvSpPr>
          <p:cNvPr id="3" name="Marcador de contenido 1">
            <a:extLst>
              <a:ext uri="{FF2B5EF4-FFF2-40B4-BE49-F238E27FC236}">
                <a16:creationId xmlns:a16="http://schemas.microsoft.com/office/drawing/2014/main" id="{0BF0F582-C2A9-4D35-3768-B1494298CF1B}"/>
              </a:ext>
            </a:extLst>
          </p:cNvPr>
          <p:cNvSpPr txBox="1">
            <a:spLocks/>
          </p:cNvSpPr>
          <p:nvPr/>
        </p:nvSpPr>
        <p:spPr>
          <a:xfrm>
            <a:off x="1669448" y="4305600"/>
            <a:ext cx="9197026" cy="2392912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</a:rPr>
              <a:t>Podría ser el desarrollo de una aplicación móvil interna utilizando principios de modularidad y encapsulamiento.</a:t>
            </a:r>
            <a:endParaRPr lang="es-ES" sz="4000" dirty="0">
              <a:highlight>
                <a:srgbClr val="FFFFFF"/>
              </a:highlight>
              <a:latin typeface="+mn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1511239-E6FE-C83C-85E6-6A56080F9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6924" y="3096617"/>
            <a:ext cx="8692974" cy="7522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93330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0D12-A79B-FB90-A42D-EB5C1C6B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E50B8E8-E6BA-B641-FFBA-569D50424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760" y="846668"/>
            <a:ext cx="21946388" cy="1817020"/>
          </a:xfrm>
        </p:spPr>
        <p:txBody>
          <a:bodyPr>
            <a:normAutofit/>
          </a:bodyPr>
          <a:lstStyle/>
          <a:p>
            <a:pPr fontAlgn="base"/>
            <a:r>
              <a:rPr lang="es-ES" dirty="0">
                <a:highlight>
                  <a:srgbClr val="FFFFFF"/>
                </a:highlight>
              </a:rPr>
              <a:t>Ejemplo</a:t>
            </a:r>
            <a:endParaRPr lang="es-CL" dirty="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36A0784B-A4B2-E935-4EA3-77766A74099E}"/>
              </a:ext>
            </a:extLst>
          </p:cNvPr>
          <p:cNvSpPr txBox="1">
            <a:spLocks/>
          </p:cNvSpPr>
          <p:nvPr/>
        </p:nvSpPr>
        <p:spPr>
          <a:xfrm>
            <a:off x="1052760" y="2793180"/>
            <a:ext cx="21946388" cy="118339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>
            <a:lvl1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+mj-lt"/>
                <a:ea typeface="Open Sans Light"/>
                <a:cs typeface="Open Sans Light"/>
                <a:sym typeface="Open Sans Light"/>
              </a:defRPr>
            </a:lvl1pPr>
            <a:lvl2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indent="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30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571500" indent="-571500" fontAlgn="base">
              <a:buFont typeface="Wingdings" panose="05000000000000000000" pitchFamily="2" charset="2"/>
              <a:buChar char="ü"/>
            </a:pPr>
            <a:r>
              <a:rPr lang="es-CL" sz="4400" dirty="0">
                <a:highlight>
                  <a:srgbClr val="FFFFFF"/>
                </a:highlight>
              </a:rPr>
              <a:t>Proyectos Grandes</a:t>
            </a:r>
            <a:endParaRPr lang="es-CL" dirty="0"/>
          </a:p>
        </p:txBody>
      </p:sp>
      <p:sp>
        <p:nvSpPr>
          <p:cNvPr id="3" name="Marcador de contenido 1">
            <a:extLst>
              <a:ext uri="{FF2B5EF4-FFF2-40B4-BE49-F238E27FC236}">
                <a16:creationId xmlns:a16="http://schemas.microsoft.com/office/drawing/2014/main" id="{31F6474D-6DE4-702F-DB5D-9D1AF205C0EE}"/>
              </a:ext>
            </a:extLst>
          </p:cNvPr>
          <p:cNvSpPr txBox="1">
            <a:spLocks/>
          </p:cNvSpPr>
          <p:nvPr/>
        </p:nvSpPr>
        <p:spPr>
          <a:xfrm>
            <a:off x="1669448" y="4305599"/>
            <a:ext cx="9197026" cy="3860205"/>
          </a:xfrm>
          <a:prstGeom prst="rect">
            <a:avLst/>
          </a:prstGeom>
        </p:spPr>
        <p:txBody>
          <a:bodyPr/>
          <a:lstStyle>
            <a:lvl1pPr marL="636588" marR="0" indent="-63658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40000"/>
              <a:buFontTx/>
              <a:buBlip>
                <a:blip r:embed="rId3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081088" marR="0" indent="-479425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10000"/>
              <a:buFontTx/>
              <a:buBlip>
                <a:blip r:embed="rId4"/>
              </a:buBlip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fontAlgn="base">
              <a:buNone/>
            </a:pPr>
            <a:r>
              <a:rPr lang="es-ES" sz="4000" dirty="0">
                <a:highlight>
                  <a:srgbClr val="FFFFFF"/>
                </a:highlight>
                <a:latin typeface="+mn-lt"/>
              </a:rPr>
              <a:t>Podría ser la implementación de un sistema de gestión empresarial para un cliente externo, aplicando la teoría general de sistemas para gestionar la complejidad y asegurar la calidad.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81738A-ADBA-D44D-C18A-64D0C879C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4271" y="2172497"/>
            <a:ext cx="8504528" cy="82215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30154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TEMA DE OFFICE" val="hkOaHDXf"/>
  <p:tag name="ARTICULATE_DESIGN_ID_1_TEMA DE OFFICE" val="gzdMsA2f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INACAP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FF0000"/>
      </a:accent1>
      <a:accent2>
        <a:srgbClr val="9B2D1F"/>
      </a:accent2>
      <a:accent3>
        <a:srgbClr val="C3C0C0"/>
      </a:accent3>
      <a:accent4>
        <a:srgbClr val="A5A1A1"/>
      </a:accent4>
      <a:accent5>
        <a:srgbClr val="4E4A4A"/>
      </a:accent5>
      <a:accent6>
        <a:srgbClr val="343232"/>
      </a:accent6>
      <a:hlink>
        <a:srgbClr val="742117"/>
      </a:hlink>
      <a:folHlink>
        <a:srgbClr val="DE6B5C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wrap="square">
        <a:spAutoFit/>
      </a:bodyPr>
      <a:lstStyle>
        <a:defPPr algn="l">
          <a:lnSpc>
            <a:spcPct val="90000"/>
          </a:lnSpc>
          <a:defRPr sz="40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Open Sans"/>
            <a:ea typeface="Open Sans"/>
            <a:cs typeface="Open Sans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AECABF4673B045928504B8709B0703" ma:contentTypeVersion="10" ma:contentTypeDescription="Create a new document." ma:contentTypeScope="" ma:versionID="e157ccacd973f3530825db3ea3e0559a">
  <xsd:schema xmlns:xsd="http://www.w3.org/2001/XMLSchema" xmlns:xs="http://www.w3.org/2001/XMLSchema" xmlns:p="http://schemas.microsoft.com/office/2006/metadata/properties" xmlns:ns2="f521ab06-8be4-4135-b43a-4e5b92328180" xmlns:ns3="1edf1170-77d6-4035-8602-a22182356611" targetNamespace="http://schemas.microsoft.com/office/2006/metadata/properties" ma:root="true" ma:fieldsID="4f16625a56fda0fde31d0dd3a25ba35f" ns2:_="" ns3:_="">
    <xsd:import namespace="f521ab06-8be4-4135-b43a-4e5b92328180"/>
    <xsd:import namespace="1edf1170-77d6-4035-8602-a221823566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21ab06-8be4-4135-b43a-4e5b923281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f1170-77d6-4035-8602-a2218235661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9BB175-B590-4199-B5FC-9EB1A3CD83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21ab06-8be4-4135-b43a-4e5b92328180"/>
    <ds:schemaRef ds:uri="1edf1170-77d6-4035-8602-a221823566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8A17BF-152C-4954-8A21-1D2BC4EE9338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a4651164-0f15-4d13-a36d-0ab7743e2aa9"/>
    <ds:schemaRef ds:uri="25bec445-1eda-44e1-911d-4f05f3fc3cee"/>
  </ds:schemaRefs>
</ds:datastoreItem>
</file>

<file path=customXml/itemProps3.xml><?xml version="1.0" encoding="utf-8"?>
<ds:datastoreItem xmlns:ds="http://schemas.openxmlformats.org/officeDocument/2006/customXml" ds:itemID="{CA321BD8-32AE-42B9-AE17-A96B372B0E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9045</TotalTime>
  <Words>808</Words>
  <Application>Microsoft Office PowerPoint</Application>
  <PresentationFormat>Personalizado</PresentationFormat>
  <Paragraphs>57</Paragraphs>
  <Slides>19</Slides>
  <Notes>0</Notes>
  <HiddenSlides>3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Open Sans</vt:lpstr>
      <vt:lpstr>Open Sans Extrabold</vt:lpstr>
      <vt:lpstr>Open Sans Light</vt:lpstr>
      <vt:lpstr>Wingdings</vt:lpstr>
      <vt:lpstr>Tema de Office</vt:lpstr>
      <vt:lpstr>Teoría general de sistemas en la ingeniería de software</vt:lpstr>
      <vt:lpstr>Presentación de PowerPoint</vt:lpstr>
      <vt:lpstr>Conceptos sobre teoría general de los sistemas </vt:lpstr>
      <vt:lpstr>¿ Que son las Variables del problema ?</vt:lpstr>
      <vt:lpstr>¿ Que son las actividades en el tiempo 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Comportamiento del sistema</vt:lpstr>
      <vt:lpstr>Estructura del sistema</vt:lpstr>
      <vt:lpstr>Etapas del Proceso de la ingeniería de software </vt:lpstr>
      <vt:lpstr>Presentación de PowerPoint</vt:lpstr>
      <vt:lpstr>Presentación de PowerPoint</vt:lpstr>
      <vt:lpstr>Aplicación de la teoría general de sistemas en proyectos de software</vt:lpstr>
      <vt:lpstr>Tipos y Alcances en Proyectos de Software</vt:lpstr>
      <vt:lpstr>Ejemplo</vt:lpstr>
      <vt:lpstr>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Rubén Miranda Cerna</dc:creator>
  <cp:lastModifiedBy>SEBASTIAN ALEJANDRO HERNANDEZ VIVEROS</cp:lastModifiedBy>
  <cp:revision>210</cp:revision>
  <dcterms:modified xsi:type="dcterms:W3CDTF">2025-08-19T22:37:41Z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0x0101009DAECABF4673B045928504B8709B0703</vt:lpwstr>
  </property>
  <property fmtid="{D5CDD505-2E9C-101B-9397-08002B2CF9AE}" pid="3" name="ArticulateGUID">
    <vt:lpwstr>D423E9C1-20EB-45CA-B0C1-11C39F7ED179</vt:lpwstr>
  </property>
  <property fmtid="{D5CDD505-2E9C-101B-9397-08002B2CF9AE}" pid="4" name="ArticulatePath">
    <vt:lpwstr>Template INACAP - Capacitación</vt:lpwstr>
  </property>
  <property fmtid="{D5CDD505-2E9C-101B-9397-08002B2CF9AE}" pid="5" name="Order">
    <vt:r8>470300</vt:r8>
  </property>
  <property fmtid="{D5CDD505-2E9C-101B-9397-08002B2CF9AE}" pid="6" name="Título">
    <vt:lpwstr>Presentación de PowerPoint</vt:lpwstr>
  </property>
  <property fmtid="{D5CDD505-2E9C-101B-9397-08002B2CF9AE}" pid="7" name="MediaServiceImageTags">
    <vt:lpwstr/>
  </property>
  <property fmtid="{D5CDD505-2E9C-101B-9397-08002B2CF9AE}" pid="8" name="Valor de Id. de documento">
    <vt:lpwstr>NSR3YSYDJ5PP-464367228-4703</vt:lpwstr>
  </property>
  <property fmtid="{D5CDD505-2E9C-101B-9397-08002B2CF9AE}" pid="9" name="_dlc_DocIdItemGuid">
    <vt:lpwstr>5b6340ab-1fc9-44ce-8a70-d7d5fe31f6b1</vt:lpwstr>
  </property>
</Properties>
</file>